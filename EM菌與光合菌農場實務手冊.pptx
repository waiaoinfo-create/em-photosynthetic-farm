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95D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EM菌與光合菌</a:t>
            </a:r>
          </a:p>
          <a:p>
            <a:pPr algn="ctr">
              <a:defRPr sz="3600" b="1">
                <a:solidFill>
                  <a:srgbClr val="95D5B2"/>
                </a:solidFill>
              </a:defRPr>
            </a:pPr>
            <a:r>
              <a:t>農場實務操作完全手冊</a:t>
            </a:r>
          </a:p>
          <a:p>
            <a:br/>
            <a:pPr algn="ctr">
              <a:defRPr sz="1800">
                <a:solidFill>
                  <a:srgbClr val="B7E4C7"/>
                </a:solidFill>
              </a:defRPr>
            </a:pPr>
            <a:r>
              <a:t>從基礎理論到實務操作 · 成本分析 · 人力配置 · 真實案例 · 極致拆解</a:t>
            </a:r>
          </a:p>
          <a:p>
            <a:br/>
            <a:pPr algn="ctr">
              <a:defRPr sz="1400">
                <a:solidFill>
                  <a:srgbClr val="88AA99"/>
                </a:solidFill>
              </a:defRPr>
            </a:pPr>
            <a:r>
              <a:t>2026年6月  |  資料來源：食工所、農業試驗所、農業知識入口網、上下游新聞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目錄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188720"/>
            <a:ext cx="5760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2D6A4F"/>
                </a:solidFill>
              </a:defRPr>
            </a:pPr>
            <a:r>
              <a:t>1.  EM菌與光合菌概論</a:t>
            </a:r>
          </a:p>
          <a:p>
            <a:pPr>
              <a:spcAft>
                <a:spcPts val="1000"/>
              </a:spcAft>
              <a:defRPr sz="2000" b="1">
                <a:solidFill>
                  <a:srgbClr val="2D6A4F"/>
                </a:solidFill>
              </a:defRPr>
            </a:pPr>
            <a:r>
              <a:t>2.  核心差異釐清</a:t>
            </a:r>
          </a:p>
          <a:p>
            <a:pPr>
              <a:spcAft>
                <a:spcPts val="1000"/>
              </a:spcAft>
              <a:defRPr sz="2000" b="1">
                <a:solidFill>
                  <a:srgbClr val="2D6A4F"/>
                </a:solidFill>
              </a:defRPr>
            </a:pPr>
            <a:r>
              <a:t>3.  光合菌培養SOP</a:t>
            </a:r>
          </a:p>
          <a:p>
            <a:pPr>
              <a:spcAft>
                <a:spcPts val="1000"/>
              </a:spcAft>
              <a:defRPr sz="2000" b="1">
                <a:solidFill>
                  <a:srgbClr val="2D6A4F"/>
                </a:solidFill>
              </a:defRPr>
            </a:pPr>
            <a:r>
              <a:t>4.  EM菌自製SOP</a:t>
            </a:r>
          </a:p>
          <a:p>
            <a:pPr>
              <a:spcAft>
                <a:spcPts val="1000"/>
              </a:spcAft>
              <a:defRPr sz="2000" b="1">
                <a:solidFill>
                  <a:srgbClr val="2D6A4F"/>
                </a:solidFill>
              </a:defRPr>
            </a:pPr>
            <a:r>
              <a:t>5.  農場四大應用領域</a:t>
            </a:r>
          </a:p>
          <a:p>
            <a:pPr>
              <a:spcAft>
                <a:spcPts val="1000"/>
              </a:spcAft>
              <a:defRPr sz="2000" b="1">
                <a:solidFill>
                  <a:srgbClr val="2D6A4F"/>
                </a:solidFill>
              </a:defRPr>
            </a:pPr>
            <a:r>
              <a:t>6.  成本量化分析</a:t>
            </a:r>
          </a:p>
          <a:p>
            <a:pPr>
              <a:spcAft>
                <a:spcPts val="1000"/>
              </a:spcAft>
              <a:defRPr sz="2000" b="1">
                <a:solidFill>
                  <a:srgbClr val="2D6A4F"/>
                </a:solidFill>
              </a:defRPr>
            </a:pPr>
            <a:r>
              <a:t>7.  人力配置實務</a:t>
            </a:r>
          </a:p>
          <a:p>
            <a:pPr>
              <a:spcAft>
                <a:spcPts val="1000"/>
              </a:spcAft>
              <a:defRPr sz="2000" b="1">
                <a:solidFill>
                  <a:srgbClr val="2D6A4F"/>
                </a:solidFill>
              </a:defRPr>
            </a:pPr>
            <a:r>
              <a:t>8.  真實案例深度拆解</a:t>
            </a:r>
          </a:p>
          <a:p>
            <a:pPr>
              <a:spcAft>
                <a:spcPts val="1000"/>
              </a:spcAft>
              <a:defRPr sz="2000" b="1">
                <a:solidFill>
                  <a:srgbClr val="2D6A4F"/>
                </a:solidFill>
              </a:defRPr>
            </a:pPr>
            <a:r>
              <a:t>9.  常見失敗與排除</a:t>
            </a:r>
          </a:p>
          <a:p>
            <a:pPr>
              <a:spcAft>
                <a:spcPts val="1000"/>
              </a:spcAft>
              <a:defRPr sz="2000" b="1">
                <a:solidFill>
                  <a:srgbClr val="2D6A4F"/>
                </a:solidFill>
              </a:defRPr>
            </a:pPr>
            <a:r>
              <a:t>10. 風險與注意事項</a:t>
            </a:r>
          </a:p>
          <a:p>
            <a:pPr>
              <a:spcAft>
                <a:spcPts val="1000"/>
              </a:spcAft>
              <a:defRPr sz="2000" b="1">
                <a:solidFill>
                  <a:srgbClr val="2D6A4F"/>
                </a:solidFill>
              </a:defRPr>
            </a:pPr>
            <a:r>
              <a:t>11. 總結效益矩陣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6A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91695" cy="36576"/>
          </a:xfrm>
          <a:prstGeom prst="rect">
            <a:avLst/>
          </a:prstGeom>
          <a:solidFill>
            <a:srgbClr val="95D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95D5B2"/>
                </a:solidFill>
              </a:defRPr>
            </a:pPr>
            <a:r>
              <a:t>第壹部分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EM菌與光合菌概論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EM菌 vs 光合菌 基礎認知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2D6A4F"/>
                </a:solidFill>
              </a:rPr>
              <a:t>EM菌（Effective Microorganisms）
</a:t>
            </a:r>
            <a:r>
              <a:rPr sz="1600">
                <a:solidFill>
                  <a:srgbClr val="1B4332"/>
                </a:solidFill>
              </a:rPr>
              <a:t>日本琉球大學比嘉照夫教授研發
5大類10屬56餘種微生物複合
光合菌+乳酸菌+酵母菌+放線菌+絲狀菌
綜合型：土壤改良、飼料添加、環境除臭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2D6A4F"/>
                </a:solidFill>
              </a:rPr>
              <a:t>光合菌（PSB）
</a:t>
            </a:r>
            <a:r>
              <a:rPr sz="1600">
                <a:solidFill>
                  <a:srgbClr val="1B4332"/>
                </a:solidFill>
              </a:rPr>
              <a:t>紫色非硫菌——沼澤紅假單胞菌為主
固氮溶磷、分解氨氮與硫化氫
分泌植物生長因子、促進根系發育
台灣食工所（FIRDI）主要推廣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核心差異釐清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860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比較項目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EM菌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光合菌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取得難度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容易（市售多）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需特定來源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自製難度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低（糖+水+菌種）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中（需光照管理）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土壤改良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全面性佳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專一性強（固氮溶磷）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水產應用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良好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極佳（降氨氮）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畜禽除臭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極佳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良好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葉面噴施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佳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極佳（促根系）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堆肥加速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極佳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普通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保存性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較差（液體衰退快）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較佳（厭氧穩定）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6A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91695" cy="36576"/>
          </a:xfrm>
          <a:prstGeom prst="rect">
            <a:avLst/>
          </a:prstGeom>
          <a:solidFill>
            <a:srgbClr val="95D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95D5B2"/>
                </a:solidFill>
              </a:defRPr>
            </a:pPr>
            <a:r>
              <a:t>第參部分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光合菌培養SOP</a:t>
            </a:r>
          </a:p>
          <a:p>
            <a:pPr algn="ctr">
              <a:defRPr sz="1800">
                <a:solidFill>
                  <a:srgbClr val="B7E4C7"/>
                </a:solidFill>
              </a:defRPr>
            </a:pPr>
            <a:r>
              <a:t>以食工所（FIRDI）技術為準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光合菌材料清單（20公升）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91885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數量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單價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小計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光合菌母菌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200ml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0~500元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0~500元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RO水/蒸餾水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20L桶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20~35元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20~35元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培養基粉末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200g包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90~150元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90~150元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透明PE桶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1個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50~80元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50~80元*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每桶總成本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110~185元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9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每公升成本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5.5~9.3元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光合菌培養步驟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2D6A4F"/>
                </a:solidFill>
              </a:rPr>
              <a:t>第一步：準備
</a:t>
            </a:r>
            <a:r>
              <a:rPr sz="1600">
                <a:solidFill>
                  <a:srgbClr val="1B4332"/>
                </a:solidFill>
              </a:rPr>
              <a:t>20L透明桶 → 75%酒精消毒 → RO水或煮沸除氯自來水 → 水溫25~35°C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2D6A4F"/>
                </a:solidFill>
              </a:rPr>
              <a:t>第二步：混合
</a:t>
            </a:r>
            <a:r>
              <a:rPr sz="1600">
                <a:solidFill>
                  <a:srgbClr val="1B4332"/>
                </a:solidFill>
              </a:rPr>
              <a:t>先加5L水 → 加培養基200g搖晃溶解 → 加母菌200ml → 加滿至桶口（少留空氣）→ 旋緊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2D6A4F"/>
                </a:solidFill>
              </a:rPr>
              <a:t>第三步：培養
</a:t>
            </a:r>
            <a:r>
              <a:rPr sz="1600">
                <a:solidFill>
                  <a:srgbClr val="1B4332"/>
                </a:solidFill>
              </a:rPr>
              <a:t>陽光充足處（避免&gt;40°C）→ 每日搖晃1~2次 → 25~35°C → 觀察顏色：淡粉→粉紅→紫紅
夏季7~10天，冬季14~21天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2D6A4F"/>
                </a:solidFill>
              </a:rPr>
              <a:t>第四步：完成判別
</a:t>
            </a:r>
            <a:r>
              <a:rPr sz="1600">
                <a:solidFill>
                  <a:srgbClr val="1B4332"/>
                </a:solidFill>
              </a:rPr>
              <a:t>深紅/紫紅色，醬油香或烏梅香（非臭味）→ 陰涼處密封保存3~6個月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6A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95D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光合菌品質判別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966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95D5B2"/>
                </a:solidFill>
              </a:rPr>
              <a:t>✅ 成功：</a:t>
            </a:r>
            <a:r>
              <a:rPr sz="2000">
                <a:solidFill>
                  <a:srgbClr val="FFFFFF"/>
                </a:solidFill>
              </a:rPr>
              <a:t>暗紅/紫紅色 · 醬油香/烏梅香 · pH 5.5~6.5 · 少許沉澱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95D5B2"/>
                </a:solidFill>
              </a:rPr>
              <a:t>❌ 失敗：</a:t>
            </a:r>
            <a:r>
              <a:rPr sz="2000">
                <a:solidFill>
                  <a:srgbClr val="FFFFFF"/>
                </a:solidFill>
              </a:rPr>
              <a:t>灰黑/綠色混濁 · 惡臭/霉味 · pH&lt;4.5或&gt;8.0 · 大量不明沉澱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6A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91695" cy="36576"/>
          </a:xfrm>
          <a:prstGeom prst="rect">
            <a:avLst/>
          </a:prstGeom>
          <a:solidFill>
            <a:srgbClr val="95D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95D5B2"/>
                </a:solidFill>
              </a:defRPr>
            </a:pPr>
            <a:r>
              <a:t>第肆部分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EM菌自製SOP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EM菌自產法（40公斤產量）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962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材料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數量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成本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紅糖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2~4kg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80~160元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水（除氯）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40L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0元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EM活菌自產劑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500g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150~250元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50L塑膠桶（首次）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1個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200~300元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每公斤成本（不含桶）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5.8~10.3元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EM菌操作步驟與紅糖擴繁法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2D6A4F"/>
                </a:solidFill>
              </a:rPr>
              <a:t>EM活菌自產法
</a:t>
            </a:r>
            <a:r>
              <a:rPr sz="1600">
                <a:solidFill>
                  <a:srgbClr val="1B4332"/>
                </a:solidFill>
              </a:rPr>
              <a:t>① 桶中加35°C溫水40L
② 加紅糖2~4kg攪拌溶解
③ 加EM自產劑500g攪勻
④ 密封25~35°C培養
⑤ 每日開蓋放氣+攪拌
⑥ 約7天完成（產氣連續減少）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2D6A4F"/>
                </a:solidFill>
              </a:rPr>
              <a:t>紅糖擴繁法（簡易版）
</a:t>
            </a:r>
            <a:r>
              <a:rPr sz="1600">
                <a:solidFill>
                  <a:srgbClr val="1B4332"/>
                </a:solidFill>
              </a:rPr>
              <a:t>市售EM原液1L + 紅糖1kg + 水20L → 密封5~7天
⚠ 菌數逐代衰減，最多擴繁3代即需重購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6A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91695" cy="36576"/>
          </a:xfrm>
          <a:prstGeom prst="rect">
            <a:avLst/>
          </a:prstGeom>
          <a:solidFill>
            <a:srgbClr val="95D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95D5B2"/>
                </a:solidFill>
              </a:defRPr>
            </a:pPr>
            <a:r>
              <a:t>第伍部分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農場四大應用領域</a:t>
            </a:r>
          </a:p>
          <a:p>
            <a:pPr algn="ctr">
              <a:defRPr sz="1800">
                <a:solidFill>
                  <a:srgbClr val="B7E4C7"/>
                </a:solidFill>
              </a:defRPr>
            </a:pPr>
            <a:r>
              <a:t>種植 · 水產 · 畜禽 · 堆肥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種植業應用——土壤改良與葉面噴施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91885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EM菌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光合菌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整地前土壤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稀釋500倍，200~300L/分地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稀釋300倍，150~200L/分地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浸種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稀釋100~200倍，15~30分鐘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稀釋100~200倍，15~30分鐘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定植澆根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200~300倍，200~500ml/株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300~500倍，300~500ml/株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葉菜類噴施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300~500倍，7~10天/次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300~500倍，7~10天/次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果樹噴施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200~300倍，10~14天/次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200~300倍，10~14天/次（避開花期）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9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根莖類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500~800倍，僅幼苗期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500~800倍，膨大期禁用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水產與畜禽養殖應用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2D6A4F"/>
                </a:solidFill>
              </a:rPr>
              <a:t>水產養殖
</a:t>
            </a:r>
            <a:r>
              <a:rPr sz="1600">
                <a:solidFill>
                  <a:srgbClr val="1B4332"/>
                </a:solidFill>
              </a:rPr>
              <a:t>EM菌：全池1~2ppm/周 · 拌料5~10ml/kg
光合菌：全池5~10ppm/日 · 拌料10~20ml/kg
光合菌對氨氮（NH₃-N）分解效果優於EM菌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2D6A4F"/>
                </a:solidFill>
              </a:rPr>
              <a:t>畜禽養殖
</a:t>
            </a:r>
            <a:r>
              <a:rPr sz="1600">
                <a:solidFill>
                  <a:srgbClr val="1B4332"/>
                </a:solidFill>
              </a:rPr>
              <a:t>飲水：500~1000倍稀釋
飼料發酵：EM菌2~5L/噸+糖2kg+水100L
噴霧除臭：稀釋100~200倍，每周2~3次
糞便堆肥：EM菌5~10L/噸+米糠20kg，15~30天
料肉比↓15%，氨氣↓60~80%，死亡率↓30~50%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堆肥製作與生物防蟲液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2D6A4F"/>
                </a:solidFill>
              </a:rPr>
              <a:t>EM菌堆肥
</a:t>
            </a:r>
            <a:r>
              <a:rPr sz="1600">
                <a:solidFill>
                  <a:srgbClr val="1B4332"/>
                </a:solidFill>
              </a:rPr>
              <a:t>有機物料1噸 + EM菌5~10L + 紅糖5kg
水分50~60% → 堆置1~1.5m高 → 覆蓋帆布
7天後翻堆，之後每3~5天翻一次
夏季20~30天／冬季40~60天完全腐熟
對比傳統：時間↓50~60%，臭味↓80~90%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2D6A4F"/>
                </a:solidFill>
              </a:rPr>
              <a:t>生物防蟲液配方
</a:t>
            </a:r>
            <a:r>
              <a:rPr sz="1600">
                <a:solidFill>
                  <a:srgbClr val="1B4332"/>
                </a:solidFill>
              </a:rPr>
              <a:t>EM菌1L + 紅糖1L + 醋精1L + 白酒1L + 辣椒粉1L + 水10L
密封發酵15天（25°C）
使用時稀釋200~1000倍噴灑葉面
對蚜蟲、青蟲、部分真菌病害有防治效果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6A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91695" cy="36576"/>
          </a:xfrm>
          <a:prstGeom prst="rect">
            <a:avLst/>
          </a:prstGeom>
          <a:solidFill>
            <a:srgbClr val="95D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95D5B2"/>
                </a:solidFill>
              </a:defRPr>
            </a:pPr>
            <a:r>
              <a:t>第陸部分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成本量化分析</a:t>
            </a:r>
          </a:p>
          <a:p>
            <a:pPr algn="ctr">
              <a:defRPr sz="1800">
                <a:solidFill>
                  <a:srgbClr val="B7E4C7"/>
                </a:solidFill>
              </a:defRPr>
            </a:pPr>
            <a:r>
              <a:t>自製 vs 市售 · ROI &gt; 500%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自製 vs 市售價格比較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市售價格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自製價格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節省比例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EM菌液（1L）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15~30元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1~3元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90~93%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光合菌液（1L）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100~130元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5~10元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90~95%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20L光合菌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2,500元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110~185元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92~96%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一分地年度成本 vs 真實案例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2D6A4F"/>
                </a:solidFill>
              </a:rPr>
              <a:t>一分地（0.1公頃）年度菌液成本
</a:t>
            </a:r>
            <a:r>
              <a:rPr sz="1600">
                <a:solidFill>
                  <a:srgbClr val="1B4332"/>
                </a:solidFill>
              </a:rPr>
              <a:t>EM菌年用量100~200L
自製：110~660元  vs  購買：1,500~6,000元
光合菌年用量100~200L
自製：550~1,850元  vs  購買：10,000~26,000元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2D6A4F"/>
                </a:solidFill>
              </a:rPr>
              <a:t>真實案例：台南紅龍果——黃政德（4分地）
</a:t>
            </a:r>
            <a:r>
              <a:rPr sz="1600">
                <a:solidFill>
                  <a:srgbClr val="1B4332"/>
                </a:solidFill>
              </a:rPr>
              <a:t>使用光合菌前：年肥料費 60,000元
使用光合菌後：年肥料費 12,000元
每年節省 48,000元（每分地省12,000元）
首次投入：700~1,500元
年度經常成本：4,000~8,000元
年度節省效益：40,000~80,000元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6A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95D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投資回報率 ROI &gt;&gt; 500% / 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966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95D5B2"/>
                </a:solidFill>
              </a:rPr>
              <a:t>首次投入：</a:t>
            </a:r>
            <a:r>
              <a:rPr sz="2000">
                <a:solidFill>
                  <a:srgbClr val="FFFFFF"/>
                </a:solidFill>
              </a:rPr>
              <a:t>700~1,500元（母菌+培養基+容器）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95D5B2"/>
                </a:solidFill>
              </a:rPr>
              <a:t>年度經常成本：</a:t>
            </a:r>
            <a:r>
              <a:rPr sz="2000">
                <a:solidFill>
                  <a:srgbClr val="FFFFFF"/>
                </a:solidFill>
              </a:rPr>
              <a:t>4,000~8,000元（培養基補充+糖+水）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95D5B2"/>
                </a:solidFill>
              </a:rPr>
              <a:t>年度節省效益：</a:t>
            </a:r>
            <a:r>
              <a:rPr sz="2000">
                <a:solidFill>
                  <a:srgbClr val="FFFFFF"/>
                </a:solidFill>
              </a:rPr>
              <a:t>肥料減少30,000~50,000元
+ 農藥減少5,000~15,000元
+ 產量提升10~30%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95D5B2"/>
                </a:solidFill>
              </a:rPr>
              <a:t>結論：</a:t>
            </a:r>
            <a:r>
              <a:rPr sz="2000">
                <a:solidFill>
                  <a:srgbClr val="FFFFFF"/>
                </a:solidFill>
              </a:rPr>
              <a:t>每投入1元，回報5元以上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6A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91695" cy="36576"/>
          </a:xfrm>
          <a:prstGeom prst="rect">
            <a:avLst/>
          </a:prstGeom>
          <a:solidFill>
            <a:srgbClr val="95D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95D5B2"/>
                </a:solidFill>
              </a:defRPr>
            </a:pPr>
            <a:r>
              <a:t>第柒部分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人力配置實務</a:t>
            </a:r>
          </a:p>
          <a:p>
            <a:pPr algn="ctr">
              <a:defRPr sz="1800">
                <a:solidFill>
                  <a:srgbClr val="B7E4C7"/>
                </a:solidFill>
              </a:defRPr>
            </a:pPr>
            <a:r>
              <a:t>3~5公頃農場 · 月增40~60工時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常態工作量（3~5公頃農場）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工作項目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頻率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每次工時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月工時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菌液培養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月1~2次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1~2小時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2~4小時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品質檢查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周1次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0.5小時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2小時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稀釋調配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每次使用前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0.5小時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2~4小時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葉面噴施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周1次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2~4小時/公頃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8~16小時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灌根澆灌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每2周1次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1~2小時/公頃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2~4小時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堆肥翻堆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月1~2次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2~4小時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4~8小時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畜舍噴霧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周2次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0.5~1小時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4~8小時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記錄監測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每日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0.5小時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15小時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合計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40~60小時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導入期人力配置與設備需求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2D6A4F"/>
                </a:solidFill>
              </a:rPr>
              <a:t>導入期前3個月
</a:t>
            </a:r>
            <a:r>
              <a:rPr sz="1600">
                <a:solidFill>
                  <a:srgbClr val="1B4332"/>
                </a:solidFill>
              </a:rPr>
              <a:t>第1~2周：設備採購、場地規劃（場長+1助手 40小時）
第1個月：首次菌液培養、小面積試驗（25小時）
第2~3個月：逐步擴大至30%面積（40小時）
第4~6個月：全面導入，回歸常態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2D6A4F"/>
                </a:solidFill>
              </a:rPr>
              <a:t>設備需求
</a:t>
            </a:r>
            <a:r>
              <a:rPr sz="1600">
                <a:solidFill>
                  <a:srgbClr val="1B4332"/>
                </a:solidFill>
              </a:rPr>
              <a:t>HDPE桶 50~200L：200~800元/個
20L透明桶：50~100元/個
量筒/量杯：100~200元
pH計/試紙：200~1,000元
動力噴霧機：5,000~20,000元
背負式噴霧器：1,000~3,000元
顯微鏡選配：3,000~8,000元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6A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91695" cy="36576"/>
          </a:xfrm>
          <a:prstGeom prst="rect">
            <a:avLst/>
          </a:prstGeom>
          <a:solidFill>
            <a:srgbClr val="95D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95D5B2"/>
                </a:solidFill>
              </a:defRPr>
            </a:pPr>
            <a:r>
              <a:t>第捌部分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真實案例深度拆解</a:t>
            </a:r>
          </a:p>
          <a:p>
            <a:pPr algn="ctr">
              <a:defRPr sz="1800">
                <a:solidFill>
                  <a:srgbClr val="B7E4C7"/>
                </a:solidFill>
              </a:defRPr>
            </a:pPr>
            <a:r>
              <a:t>台灣農民第一手實證數據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案例一：台南善化紅龍果——黃政德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2D6A4F"/>
                </a:solidFill>
              </a:rPr>
              <a:t>背景
</a:t>
            </a:r>
            <a:r>
              <a:rPr sz="1600">
                <a:solidFill>
                  <a:srgbClr val="1B4332"/>
                </a:solidFill>
              </a:rPr>
              <a:t>4分地紅龍果園，2016年導入光合菌
原慣行農法全面轉型
試驗兩行對照：光合菌無肥 vs 慣行施肥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2D6A4F"/>
                </a:solidFill>
              </a:rPr>
              <a:t>成效數據
</a:t>
            </a:r>
            <a:r>
              <a:rPr sz="1600">
                <a:solidFill>
                  <a:srgbClr val="1B4332"/>
                </a:solidFill>
              </a:rPr>
              <a:t>實驗組單果重：2公斤（對照組0.8~1.2kg）
產期延長至冬季仍可產出
肥料用量降至原有的 1/5
年肥料費：60,000元 → 12,000元
材料成本：第一年25,000元 → 第三年後3,000元/年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2D6A4F"/>
                </a:solidFill>
              </a:rPr>
              <a:t>教訓
</a:t>
            </a:r>
            <a:r>
              <a:rPr sz="1600">
                <a:solidFill>
                  <a:srgbClr val="1B4332"/>
                </a:solidFill>
              </a:rPr>
              <a:t>根莖類作物膨大期禁止使用
開花前最佳使用時機
長期需搭配基礎施肥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案例二：屏東芒果——林毓健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2D6A4F"/>
                </a:solidFill>
              </a:rPr>
              <a:t>背景
</a:t>
            </a:r>
            <a:r>
              <a:rPr sz="1600">
                <a:solidFill>
                  <a:srgbClr val="1B4332"/>
                </a:solidFill>
              </a:rPr>
              <a:t>2018年參加食工所光合菌課程
以往市售光合菌 20L = 2,500元
自製成本不到 200元/20L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2D6A4F"/>
                </a:solidFill>
              </a:rPr>
              <a:t>操作
</a:t>
            </a:r>
            <a:r>
              <a:rPr sz="1600">
                <a:solidFill>
                  <a:srgbClr val="1B4332"/>
                </a:solidFill>
              </a:rPr>
              <a:t>稀釋300~500倍，每月2次灌根
避開開花期（否則長葉不開花）
不混用殺菌劑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2D6A4F"/>
                </a:solidFill>
              </a:rPr>
              <a:t>成效
</a:t>
            </a:r>
            <a:r>
              <a:rPr sz="1600">
                <a:solidFill>
                  <a:srgbClr val="1B4332"/>
                </a:solidFill>
              </a:rPr>
              <a:t>芒果樹勢健康、葉片旺盛
連續使用3年效果累積
「市售光合菌很混亂，不敢亂買」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案例三：中國EM菌養豬場 + 案例四：屏東縣政府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2D6A4F"/>
                </a:solidFill>
              </a:rPr>
              <a:t>EM菌養豬場實證數據
</a:t>
            </a:r>
            <a:r>
              <a:rPr sz="1600">
                <a:solidFill>
                  <a:srgbClr val="1B4332"/>
                </a:solidFill>
              </a:rPr>
              <a:t>料肉比 ↓ 15%
畜舍氨氣濃度 ↓ 60~80%
死亡率 ↓ 30~50%
獸藥費用 ↓ 40~60%
水產：每畝每周潑灑1kg菌液
飼料添加：100~200ml + 糖200g + 水15kg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2D6A4F"/>
                </a:solidFill>
              </a:rPr>
              <a:t>屏東縣政府推廣光合菌
</a:t>
            </a:r>
            <a:r>
              <a:rPr sz="1600">
                <a:solidFill>
                  <a:srgbClr val="1B4332"/>
                </a:solidFill>
              </a:rPr>
              <a:t>縣府農業處邀請食工所廖麗玲博士指導
光合菌具固氮溶磷作用
增加土壤益菌量
提高作物吸收力與品質
達農藥及肥料減量目標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6A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91695" cy="36576"/>
          </a:xfrm>
          <a:prstGeom prst="rect">
            <a:avLst/>
          </a:prstGeom>
          <a:solidFill>
            <a:srgbClr val="95D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95D5B2"/>
                </a:solidFill>
              </a:defRPr>
            </a:pPr>
            <a:r>
              <a:t>第玖部分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常見失敗原因與排除對策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培養失敗與田間應用失敗對策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886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現象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原因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解決方案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菌液發黑/發臭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雜菌污染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重新培養，加強消毒，使用RO水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菌液不變紅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光照不足/溫度太低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移至陽光充足處，保持25°C以上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菌液變綠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藻類污染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加強密封避光，檢討水源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無明顯效果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濃度不足/頻率太低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提高至200~300倍，縮短至7天/次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病害增加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混入病原菌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送檢菌液，加強無菌操作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葉片灼傷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稀釋&lt;100倍/中午噴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300倍以上，傍晚噴施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花果掉落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開花期濃度過高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4332"/>
                          </a:solidFill>
                        </a:defRPr>
                      </a:pPr>
                      <a:r>
                        <a:t>暫停或稀釋至800倍以上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6A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91695" cy="36576"/>
          </a:xfrm>
          <a:prstGeom prst="rect">
            <a:avLst/>
          </a:prstGeom>
          <a:solidFill>
            <a:srgbClr val="95D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95D5B2"/>
                </a:solidFill>
              </a:defRPr>
            </a:pPr>
            <a:r>
              <a:t>第拾部分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風險與注意事項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8大注意事項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2D6A4F"/>
                </a:solidFill>
              </a:rPr>
              <a:t>① 光合菌不是肥料
</a:t>
            </a:r>
            <a:r>
              <a:rPr sz="1600">
                <a:solidFill>
                  <a:srgbClr val="1B4332"/>
                </a:solidFill>
              </a:rPr>
              <a:t>它分解養分而非創造養分，需搭配基礎施肥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2D6A4F"/>
                </a:solidFill>
              </a:rPr>
              <a:t>② 菌液保存期限
</a:t>
            </a:r>
            <a:r>
              <a:rPr sz="1600">
                <a:solidFill>
                  <a:srgbClr val="1B4332"/>
                </a:solidFill>
              </a:rPr>
              <a:t>EM菌1個月內最佳（2個月後活菌降50%）
光合菌可保存3~6個月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2D6A4F"/>
                </a:solidFill>
              </a:rPr>
              <a:t>③ 殺菌劑禁忌
</a:t>
            </a:r>
            <a:r>
              <a:rPr sz="1600">
                <a:solidFill>
                  <a:srgbClr val="1B4332"/>
                </a:solidFill>
              </a:rPr>
              <a:t>不可與殺菌劑、抗生素混合使用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2D6A4F"/>
                </a:solidFill>
              </a:rPr>
              <a:t>④ 法規現況
</a:t>
            </a:r>
            <a:r>
              <a:rPr sz="1600">
                <a:solidFill>
                  <a:srgbClr val="1B4332"/>
                </a:solidFill>
              </a:rPr>
              <a:t>光合菌尚未正式登記為微生物肥料
（非孢子菌保存不易，無廠商登記）
市售產品品質參差不齊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2D6A4F"/>
                </a:solidFill>
              </a:rPr>
              <a:t>⑤ 根莖類限制
</a:t>
            </a:r>
            <a:r>
              <a:rPr sz="1600">
                <a:solidFill>
                  <a:srgbClr val="1B4332"/>
                </a:solidFill>
              </a:rPr>
              <a:t>地下部膨大期禁用光合菌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2D6A4F"/>
                </a:solidFill>
              </a:rPr>
              <a:t>⑥ 開花期限制
</a:t>
            </a:r>
            <a:r>
              <a:rPr sz="1600">
                <a:solidFill>
                  <a:srgbClr val="1B4332"/>
                </a:solidFill>
              </a:rPr>
              <a:t>光合菌盛花期暫停使用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2D6A4F"/>
                </a:solidFill>
              </a:rPr>
              <a:t>⑦ 雜菌污染
</a:t>
            </a:r>
            <a:r>
              <a:rPr sz="1600">
                <a:solidFill>
                  <a:srgbClr val="1B4332"/>
                </a:solidFill>
              </a:rPr>
              <a:t>自製菌液可能混入病原菌，加強消毒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2D6A4F"/>
                </a:solidFill>
              </a:rPr>
              <a:t>⑧ 購買建議
</a:t>
            </a:r>
            <a:r>
              <a:rPr sz="1600">
                <a:solidFill>
                  <a:srgbClr val="1B4332"/>
                </a:solidFill>
              </a:rPr>
              <a:t>向食工所等可信來源取得母菌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6A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95D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總結：最終建議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966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95D5B2"/>
                </a:solidFill>
              </a:rPr>
              <a:t>年淨效益：</a:t>
            </a:r>
            <a:r>
              <a:rPr sz="2000">
                <a:solidFill>
                  <a:srgbClr val="FFFFFF"/>
                </a:solidFill>
              </a:rPr>
              <a:t>8~15萬元（3~5公頃農場）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95D5B2"/>
                </a:solidFill>
              </a:rPr>
              <a:t>首次投入：</a:t>
            </a:r>
            <a:r>
              <a:rPr sz="2000">
                <a:solidFill>
                  <a:srgbClr val="FFFFFF"/>
                </a:solidFill>
              </a:rPr>
              <a:t>低於2,000元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95D5B2"/>
                </a:solidFill>
              </a:rPr>
              <a:t>月增人力：</a:t>
            </a:r>
            <a:r>
              <a:rPr sz="2000">
                <a:solidFill>
                  <a:srgbClr val="FFFFFF"/>
                </a:solidFill>
              </a:rPr>
              <a:t>40~60工時（分散於現有勞動力）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95D5B2"/>
                </a:solidFill>
              </a:rPr>
              <a:t>最高策略：</a:t>
            </a:r>
            <a:r>
              <a:rPr sz="2000">
                <a:solidFill>
                  <a:srgbClr val="FFFFFF"/>
                </a:solidFill>
              </a:rPr>
              <a:t>光合菌為主（根系強化）+ EM菌為輔（堆肥+除臭）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95D5B2"/>
                </a:solidFill>
              </a:rPr>
              <a:t>入門行動：</a:t>
            </a:r>
            <a:r>
              <a:rPr sz="2000">
                <a:solidFill>
                  <a:srgbClr val="FFFFFF"/>
                </a:solidFill>
              </a:rPr>
              <a:t>先向食品工業發展研究所參加免費課程，取得正確母菌與技術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95D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資料來源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966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95D5B2"/>
                </a:solidFill>
              </a:rPr>
              <a:t>財團法人食品工業發展研究所（FIRDI）</a:t>
            </a:r>
            <a:r>
              <a:rPr sz="2000">
                <a:solidFill>
                  <a:srgbClr val="FFFFFF"/>
                </a:solidFill>
              </a:rPr>
              <a:t/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95D5B2"/>
                </a:solidFill>
              </a:rPr>
              <a:t>農業部農業試驗所</a:t>
            </a:r>
            <a:r>
              <a:rPr sz="2000">
                <a:solidFill>
                  <a:srgbClr val="FFFFFF"/>
                </a:solidFill>
              </a:rPr>
              <a:t/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95D5B2"/>
                </a:solidFill>
              </a:rPr>
              <a:t>農業部農業知識入口網（kmweb.moa.gov.tw）</a:t>
            </a:r>
            <a:r>
              <a:rPr sz="2000">
                <a:solidFill>
                  <a:srgbClr val="FFFFFF"/>
                </a:solidFill>
              </a:rPr>
              <a:t/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95D5B2"/>
                </a:solidFill>
              </a:rPr>
              <a:t>上下游新聞（www.newsmarket.com.tw）</a:t>
            </a:r>
            <a:r>
              <a:rPr sz="2000">
                <a:solidFill>
                  <a:srgbClr val="FFFFFF"/>
                </a:solidFill>
              </a:rPr>
              <a:t>林怡均記者報導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95D5B2"/>
                </a:solidFill>
              </a:rPr>
              <a:t>水產試驗所</a:t>
            </a:r>
            <a:r>
              <a:rPr sz="2000">
                <a:solidFill>
                  <a:srgbClr val="FFFFFF"/>
                </a:solidFill>
              </a:rPr>
              <a:t/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95D5B2"/>
                </a:solidFill>
              </a:rPr>
              <a:t>農業用微生物產業固本與加值應用技術研發成果</a:t>
            </a:r>
            <a:r>
              <a:rPr sz="2000">
                <a:solidFill>
                  <a:srgbClr val="FFFFFF"/>
                </a:solidFill>
              </a:rPr>
              <a:t>農業部2021-2024統籌計畫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